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7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5D82BA5-D2EA-4034-8CF6-EC1A444B1766}" type="datetimeFigureOut">
              <a:rPr lang="en-US" smtClean="0"/>
              <a:t>4/27/2023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2EDD64-E8E0-44C2-A253-5577E22F757E}" type="slidenum">
              <a:rPr lang="en-US" smtClean="0"/>
              <a:t>‹#›</a:t>
            </a:fld>
            <a:endParaRPr lang="en-US"/>
          </a:p>
        </p:txBody>
      </p:sp>
    </p:spTree>
    <p:extLst>
      <p:ext uri="{BB962C8B-B14F-4D97-AF65-F5344CB8AC3E}">
        <p14:creationId xmlns:p14="http://schemas.microsoft.com/office/powerpoint/2010/main" val="127195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5D82BA5-D2EA-4034-8CF6-EC1A444B1766}" type="datetimeFigureOut">
              <a:rPr lang="en-US" smtClean="0"/>
              <a:t>4/27/2023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2EDD64-E8E0-44C2-A253-5577E22F757E}" type="slidenum">
              <a:rPr lang="en-US" smtClean="0"/>
              <a:t>‹#›</a:t>
            </a:fld>
            <a:endParaRPr lang="en-US"/>
          </a:p>
        </p:txBody>
      </p:sp>
    </p:spTree>
    <p:extLst>
      <p:ext uri="{BB962C8B-B14F-4D97-AF65-F5344CB8AC3E}">
        <p14:creationId xmlns:p14="http://schemas.microsoft.com/office/powerpoint/2010/main" val="2321270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5D82BA5-D2EA-4034-8CF6-EC1A444B1766}" type="datetimeFigureOut">
              <a:rPr lang="en-US" smtClean="0"/>
              <a:t>4/27/2023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2EDD64-E8E0-44C2-A253-5577E22F757E}" type="slidenum">
              <a:rPr lang="en-US" smtClean="0"/>
              <a:t>‹#›</a:t>
            </a:fld>
            <a:endParaRPr lang="en-US"/>
          </a:p>
        </p:txBody>
      </p:sp>
    </p:spTree>
    <p:extLst>
      <p:ext uri="{BB962C8B-B14F-4D97-AF65-F5344CB8AC3E}">
        <p14:creationId xmlns:p14="http://schemas.microsoft.com/office/powerpoint/2010/main" val="1973674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5D82BA5-D2EA-4034-8CF6-EC1A444B1766}" type="datetimeFigureOut">
              <a:rPr lang="en-US" smtClean="0"/>
              <a:t>4/27/2023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2EDD64-E8E0-44C2-A253-5577E22F757E}" type="slidenum">
              <a:rPr lang="en-US" smtClean="0"/>
              <a:t>‹#›</a:t>
            </a:fld>
            <a:endParaRPr lang="en-US"/>
          </a:p>
        </p:txBody>
      </p:sp>
    </p:spTree>
    <p:extLst>
      <p:ext uri="{BB962C8B-B14F-4D97-AF65-F5344CB8AC3E}">
        <p14:creationId xmlns:p14="http://schemas.microsoft.com/office/powerpoint/2010/main" val="1972272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5D82BA5-D2EA-4034-8CF6-EC1A444B1766}" type="datetimeFigureOut">
              <a:rPr lang="en-US" smtClean="0"/>
              <a:t>4/27/2023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2EDD64-E8E0-44C2-A253-5577E22F757E}" type="slidenum">
              <a:rPr lang="en-US" smtClean="0"/>
              <a:t>‹#›</a:t>
            </a:fld>
            <a:endParaRPr lang="en-US"/>
          </a:p>
        </p:txBody>
      </p:sp>
    </p:spTree>
    <p:extLst>
      <p:ext uri="{BB962C8B-B14F-4D97-AF65-F5344CB8AC3E}">
        <p14:creationId xmlns:p14="http://schemas.microsoft.com/office/powerpoint/2010/main" val="1416795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5D82BA5-D2EA-4034-8CF6-EC1A444B1766}" type="datetimeFigureOut">
              <a:rPr lang="en-US" smtClean="0"/>
              <a:t>4/27/2023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2EDD64-E8E0-44C2-A253-5577E22F757E}" type="slidenum">
              <a:rPr lang="en-US" smtClean="0"/>
              <a:t>‹#›</a:t>
            </a:fld>
            <a:endParaRPr lang="en-US"/>
          </a:p>
        </p:txBody>
      </p:sp>
    </p:spTree>
    <p:extLst>
      <p:ext uri="{BB962C8B-B14F-4D97-AF65-F5344CB8AC3E}">
        <p14:creationId xmlns:p14="http://schemas.microsoft.com/office/powerpoint/2010/main" val="4223504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D82BA5-D2EA-4034-8CF6-EC1A444B1766}" type="datetimeFigureOut">
              <a:rPr lang="en-US" smtClean="0"/>
              <a:t>4/27/2023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2EDD64-E8E0-44C2-A253-5577E22F757E}" type="slidenum">
              <a:rPr lang="en-US" smtClean="0"/>
              <a:t>‹#›</a:t>
            </a:fld>
            <a:endParaRPr lang="en-US"/>
          </a:p>
        </p:txBody>
      </p:sp>
    </p:spTree>
    <p:extLst>
      <p:ext uri="{BB962C8B-B14F-4D97-AF65-F5344CB8AC3E}">
        <p14:creationId xmlns:p14="http://schemas.microsoft.com/office/powerpoint/2010/main" val="1322501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5D82BA5-D2EA-4034-8CF6-EC1A444B1766}" type="datetimeFigureOut">
              <a:rPr lang="en-US" smtClean="0"/>
              <a:t>4/27/2023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2EDD64-E8E0-44C2-A253-5577E22F757E}" type="slidenum">
              <a:rPr lang="en-US" smtClean="0"/>
              <a:t>‹#›</a:t>
            </a:fld>
            <a:endParaRPr lang="en-US"/>
          </a:p>
        </p:txBody>
      </p:sp>
    </p:spTree>
    <p:extLst>
      <p:ext uri="{BB962C8B-B14F-4D97-AF65-F5344CB8AC3E}">
        <p14:creationId xmlns:p14="http://schemas.microsoft.com/office/powerpoint/2010/main" val="3868434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5D82BA5-D2EA-4034-8CF6-EC1A444B1766}" type="datetimeFigureOut">
              <a:rPr lang="en-US" smtClean="0"/>
              <a:t>4/27/2023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2EDD64-E8E0-44C2-A253-5577E22F757E}" type="slidenum">
              <a:rPr lang="en-US" smtClean="0"/>
              <a:t>‹#›</a:t>
            </a:fld>
            <a:endParaRPr lang="en-US"/>
          </a:p>
        </p:txBody>
      </p:sp>
    </p:spTree>
    <p:extLst>
      <p:ext uri="{BB962C8B-B14F-4D97-AF65-F5344CB8AC3E}">
        <p14:creationId xmlns:p14="http://schemas.microsoft.com/office/powerpoint/2010/main" val="1071714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5D82BA5-D2EA-4034-8CF6-EC1A444B1766}" type="datetimeFigureOut">
              <a:rPr lang="en-US" smtClean="0"/>
              <a:t>4/27/2023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2EDD64-E8E0-44C2-A253-5577E22F757E}" type="slidenum">
              <a:rPr lang="en-US" smtClean="0"/>
              <a:t>‹#›</a:t>
            </a:fld>
            <a:endParaRPr lang="en-US"/>
          </a:p>
        </p:txBody>
      </p:sp>
    </p:spTree>
    <p:extLst>
      <p:ext uri="{BB962C8B-B14F-4D97-AF65-F5344CB8AC3E}">
        <p14:creationId xmlns:p14="http://schemas.microsoft.com/office/powerpoint/2010/main" val="2894257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5D82BA5-D2EA-4034-8CF6-EC1A444B1766}" type="datetimeFigureOut">
              <a:rPr lang="en-US" smtClean="0"/>
              <a:t>4/27/2023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2EDD64-E8E0-44C2-A253-5577E22F757E}" type="slidenum">
              <a:rPr lang="en-US" smtClean="0"/>
              <a:t>‹#›</a:t>
            </a:fld>
            <a:endParaRPr lang="en-US"/>
          </a:p>
        </p:txBody>
      </p:sp>
    </p:spTree>
    <p:extLst>
      <p:ext uri="{BB962C8B-B14F-4D97-AF65-F5344CB8AC3E}">
        <p14:creationId xmlns:p14="http://schemas.microsoft.com/office/powerpoint/2010/main" val="1535919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D82BA5-D2EA-4034-8CF6-EC1A444B1766}" type="datetimeFigureOut">
              <a:rPr lang="en-US" smtClean="0"/>
              <a:t>4/27/2023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2EDD64-E8E0-44C2-A253-5577E22F757E}" type="slidenum">
              <a:rPr lang="en-US" smtClean="0"/>
              <a:t>‹#›</a:t>
            </a:fld>
            <a:endParaRPr lang="en-US"/>
          </a:p>
        </p:txBody>
      </p:sp>
    </p:spTree>
    <p:extLst>
      <p:ext uri="{BB962C8B-B14F-4D97-AF65-F5344CB8AC3E}">
        <p14:creationId xmlns:p14="http://schemas.microsoft.com/office/powerpoint/2010/main" val="3713332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u="sng" dirty="0" err="1" smtClean="0"/>
              <a:t>Olist</a:t>
            </a:r>
            <a:r>
              <a:rPr lang="en-US" u="sng" dirty="0" smtClean="0"/>
              <a:t> E-Commerce </a:t>
            </a:r>
            <a:r>
              <a:rPr lang="en-US" u="sng" dirty="0" smtClean="0"/>
              <a:t>Sales Report</a:t>
            </a:r>
            <a:endParaRPr lang="en-US" u="sng" dirty="0"/>
          </a:p>
        </p:txBody>
      </p:sp>
      <p:sp>
        <p:nvSpPr>
          <p:cNvPr id="3" name="Subtitle 2"/>
          <p:cNvSpPr>
            <a:spLocks noGrp="1"/>
          </p:cNvSpPr>
          <p:nvPr>
            <p:ph type="subTitle" idx="1"/>
          </p:nvPr>
        </p:nvSpPr>
        <p:spPr/>
        <p:txBody>
          <a:bodyPr/>
          <a:lstStyle/>
          <a:p>
            <a:r>
              <a:rPr lang="en-US" dirty="0" smtClean="0"/>
              <a:t>Data Analytics Approach by </a:t>
            </a:r>
            <a:r>
              <a:rPr lang="en-US" dirty="0" err="1" smtClean="0"/>
              <a:t>Morakinyo</a:t>
            </a:r>
            <a:endParaRPr lang="en-US" dirty="0" smtClean="0"/>
          </a:p>
        </p:txBody>
      </p:sp>
    </p:spTree>
    <p:extLst>
      <p:ext uri="{BB962C8B-B14F-4D97-AF65-F5344CB8AC3E}">
        <p14:creationId xmlns:p14="http://schemas.microsoft.com/office/powerpoint/2010/main" val="2014537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1850" y="1709738"/>
            <a:ext cx="10515600" cy="1046525"/>
          </a:xfrm>
        </p:spPr>
        <p:txBody>
          <a:bodyPr/>
          <a:lstStyle/>
          <a:p>
            <a:r>
              <a:rPr lang="en-US" u="sng" dirty="0" smtClean="0"/>
              <a:t>AGENDA</a:t>
            </a:r>
            <a:r>
              <a:rPr lang="en-US" dirty="0" smtClean="0"/>
              <a:t>:</a:t>
            </a:r>
            <a:endParaRPr lang="en-US" dirty="0"/>
          </a:p>
        </p:txBody>
      </p:sp>
      <p:sp>
        <p:nvSpPr>
          <p:cNvPr id="5" name="Text Placeholder 4"/>
          <p:cNvSpPr>
            <a:spLocks noGrp="1"/>
          </p:cNvSpPr>
          <p:nvPr>
            <p:ph type="body" idx="1"/>
          </p:nvPr>
        </p:nvSpPr>
        <p:spPr>
          <a:xfrm>
            <a:off x="1410788" y="2756263"/>
            <a:ext cx="9936661" cy="2259489"/>
          </a:xfrm>
        </p:spPr>
        <p:txBody>
          <a:bodyPr>
            <a:normAutofit/>
          </a:bodyPr>
          <a:lstStyle/>
          <a:p>
            <a:pPr marL="457200" indent="-457200">
              <a:buFont typeface="+mj-lt"/>
              <a:buAutoNum type="arabicPeriod"/>
            </a:pPr>
            <a:r>
              <a:rPr lang="en-US" dirty="0" smtClean="0"/>
              <a:t>Introduction</a:t>
            </a:r>
          </a:p>
          <a:p>
            <a:pPr marL="457200" indent="-457200">
              <a:buFont typeface="+mj-lt"/>
              <a:buAutoNum type="arabicPeriod"/>
            </a:pPr>
            <a:r>
              <a:rPr lang="en-US" dirty="0" smtClean="0"/>
              <a:t>Background</a:t>
            </a:r>
          </a:p>
          <a:p>
            <a:pPr marL="457200" indent="-457200">
              <a:buFont typeface="+mj-lt"/>
              <a:buAutoNum type="arabicPeriod"/>
            </a:pPr>
            <a:r>
              <a:rPr lang="en-US" dirty="0" smtClean="0"/>
              <a:t>Data Exploration</a:t>
            </a:r>
          </a:p>
          <a:p>
            <a:pPr marL="457200" indent="-457200">
              <a:buFont typeface="+mj-lt"/>
              <a:buAutoNum type="arabicPeriod"/>
            </a:pPr>
            <a:r>
              <a:rPr lang="en-US" dirty="0" smtClean="0"/>
              <a:t>Data Visualization and </a:t>
            </a:r>
            <a:r>
              <a:rPr lang="en-US" dirty="0" smtClean="0"/>
              <a:t>Interpretation</a:t>
            </a:r>
          </a:p>
          <a:p>
            <a:pPr marL="457200" indent="-457200">
              <a:buFont typeface="+mj-lt"/>
              <a:buAutoNum type="arabicPeriod"/>
            </a:pPr>
            <a:r>
              <a:rPr lang="en-US" dirty="0" smtClean="0"/>
              <a:t>Recommendations</a:t>
            </a:r>
            <a:endParaRPr lang="en-US" dirty="0" smtClean="0"/>
          </a:p>
          <a:p>
            <a:pPr marL="457200" indent="-457200">
              <a:buFont typeface="+mj-lt"/>
              <a:buAutoNum type="arabicPeriod"/>
            </a:pPr>
            <a:endParaRPr lang="en-US" dirty="0" smtClean="0"/>
          </a:p>
          <a:p>
            <a:pPr marL="457200" indent="-457200">
              <a:buFont typeface="+mj-lt"/>
              <a:buAutoNum type="arabicPeriod"/>
            </a:pPr>
            <a:endParaRPr lang="en-US" dirty="0" smtClean="0"/>
          </a:p>
          <a:p>
            <a:pPr marL="457200" indent="-457200">
              <a:buFont typeface="+mj-lt"/>
              <a:buAutoNum type="arabicPeriod"/>
            </a:pPr>
            <a:endParaRPr lang="en-US" dirty="0" smtClean="0"/>
          </a:p>
          <a:p>
            <a:pPr marL="457200" indent="-457200">
              <a:buFont typeface="+mj-lt"/>
              <a:buAutoNum type="arabicPeriod"/>
            </a:pPr>
            <a:endParaRPr lang="en-US" dirty="0"/>
          </a:p>
        </p:txBody>
      </p:sp>
    </p:spTree>
    <p:extLst>
      <p:ext uri="{BB962C8B-B14F-4D97-AF65-F5344CB8AC3E}">
        <p14:creationId xmlns:p14="http://schemas.microsoft.com/office/powerpoint/2010/main" val="1518118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5943" y="978672"/>
            <a:ext cx="3949337" cy="850128"/>
          </a:xfrm>
        </p:spPr>
        <p:txBody>
          <a:bodyPr>
            <a:normAutofit fontScale="90000"/>
          </a:bodyPr>
          <a:lstStyle/>
          <a:p>
            <a:r>
              <a:rPr lang="en-US" u="sng" dirty="0" smtClean="0"/>
              <a:t>Introduction</a:t>
            </a:r>
            <a:r>
              <a:rPr lang="en-US" dirty="0" smtClean="0"/>
              <a:t>:</a:t>
            </a:r>
            <a:endParaRPr lang="en-US" dirty="0"/>
          </a:p>
        </p:txBody>
      </p:sp>
      <p:sp>
        <p:nvSpPr>
          <p:cNvPr id="3" name="Subtitle 2"/>
          <p:cNvSpPr>
            <a:spLocks noGrp="1"/>
          </p:cNvSpPr>
          <p:nvPr>
            <p:ph type="subTitle" idx="1"/>
          </p:nvPr>
        </p:nvSpPr>
        <p:spPr>
          <a:xfrm>
            <a:off x="195943" y="1972491"/>
            <a:ext cx="10472057" cy="4101738"/>
          </a:xfrm>
        </p:spPr>
        <p:txBody>
          <a:bodyPr/>
          <a:lstStyle/>
          <a:p>
            <a:pPr algn="l"/>
            <a:r>
              <a:rPr lang="en-US" dirty="0" smtClean="0"/>
              <a:t>The </a:t>
            </a:r>
            <a:r>
              <a:rPr lang="en-US" dirty="0" err="1"/>
              <a:t>Olist</a:t>
            </a:r>
            <a:r>
              <a:rPr lang="en-US" dirty="0"/>
              <a:t> sales dataset provides a unique opportunity to gain insights into the e-commerce industry in Brazil, one of the fastest-growing and most dynamic e-commerce markets in the world. The dataset covers orders placed on the </a:t>
            </a:r>
            <a:r>
              <a:rPr lang="en-US" dirty="0" err="1"/>
              <a:t>Olist</a:t>
            </a:r>
            <a:r>
              <a:rPr lang="en-US" dirty="0"/>
              <a:t> platform between January 2017 and August 2018, and includes a wide range of information about customer behavior, seller performance, product details, payment and shipping information, customer demographics, and reviews.</a:t>
            </a:r>
          </a:p>
          <a:p>
            <a:pPr algn="l"/>
            <a:r>
              <a:rPr lang="en-US" dirty="0"/>
              <a:t>This data analysis report aims to explore and analyze the </a:t>
            </a:r>
            <a:r>
              <a:rPr lang="en-US" dirty="0" err="1"/>
              <a:t>Olist</a:t>
            </a:r>
            <a:r>
              <a:rPr lang="en-US" dirty="0"/>
              <a:t> sales dataset to identify trends, patterns, and opportunities for growth and optimization. By analyzing the dataset, we can gain insights into the performance of the </a:t>
            </a:r>
            <a:r>
              <a:rPr lang="en-US" dirty="0" err="1"/>
              <a:t>Olist</a:t>
            </a:r>
            <a:r>
              <a:rPr lang="en-US" dirty="0"/>
              <a:t> platform and its sellers, as well as the behavior and preferences of Brazilian e-commerce customers.</a:t>
            </a:r>
          </a:p>
          <a:p>
            <a:pPr algn="l"/>
            <a:endParaRPr lang="en-US" dirty="0"/>
          </a:p>
        </p:txBody>
      </p:sp>
    </p:spTree>
    <p:extLst>
      <p:ext uri="{BB962C8B-B14F-4D97-AF65-F5344CB8AC3E}">
        <p14:creationId xmlns:p14="http://schemas.microsoft.com/office/powerpoint/2010/main" val="1380192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1004797"/>
            <a:ext cx="3618412" cy="902380"/>
          </a:xfrm>
        </p:spPr>
        <p:txBody>
          <a:bodyPr>
            <a:normAutofit fontScale="90000"/>
          </a:bodyPr>
          <a:lstStyle/>
          <a:p>
            <a:r>
              <a:rPr lang="en-US" u="sng" dirty="0" smtClean="0"/>
              <a:t>Background:</a:t>
            </a:r>
            <a:endParaRPr lang="en-US" u="sng" dirty="0"/>
          </a:p>
        </p:txBody>
      </p:sp>
      <p:sp>
        <p:nvSpPr>
          <p:cNvPr id="3" name="Subtitle 2"/>
          <p:cNvSpPr>
            <a:spLocks noGrp="1"/>
          </p:cNvSpPr>
          <p:nvPr>
            <p:ph type="subTitle" idx="1"/>
          </p:nvPr>
        </p:nvSpPr>
        <p:spPr>
          <a:xfrm>
            <a:off x="0" y="2024743"/>
            <a:ext cx="12004766" cy="3553097"/>
          </a:xfrm>
        </p:spPr>
        <p:txBody>
          <a:bodyPr/>
          <a:lstStyle/>
          <a:p>
            <a:pPr algn="l"/>
            <a:r>
              <a:rPr lang="en-US" dirty="0"/>
              <a:t>E-commerce in Brazil has experienced significant growth in recent years, driven by increasing internet and smartphone penetration, rising consumer confidence, and a growing middle class. According to Statista, Brazil's e-commerce market was valued at approximately 20 billion USD in 2019 and is projected to reach 27 billion USD by 2021. E-commerce sales are expected to continue to grow at a rapid pace, driven by the increasing adoption of online shopping by Brazilian consumers.</a:t>
            </a:r>
          </a:p>
          <a:p>
            <a:pPr algn="l"/>
            <a:r>
              <a:rPr lang="en-US" dirty="0" err="1"/>
              <a:t>Olist</a:t>
            </a:r>
            <a:r>
              <a:rPr lang="en-US" dirty="0"/>
              <a:t> is one of the leading e-commerce marketplaces in Brazil, providing a platform for small and medium-sized businesses to connect with customers across the country. The platform currently has over 7,000 sellers and offers more than 2 million products across</a:t>
            </a:r>
          </a:p>
          <a:p>
            <a:pPr algn="l"/>
            <a:endParaRPr lang="en-US" dirty="0"/>
          </a:p>
        </p:txBody>
      </p:sp>
    </p:spTree>
    <p:extLst>
      <p:ext uri="{BB962C8B-B14F-4D97-AF65-F5344CB8AC3E}">
        <p14:creationId xmlns:p14="http://schemas.microsoft.com/office/powerpoint/2010/main" val="3904317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6274" y="469220"/>
            <a:ext cx="5582194" cy="1059134"/>
          </a:xfrm>
        </p:spPr>
        <p:txBody>
          <a:bodyPr/>
          <a:lstStyle/>
          <a:p>
            <a:r>
              <a:rPr lang="en-US" u="sng" dirty="0" smtClean="0"/>
              <a:t>Data Exploration</a:t>
            </a:r>
            <a:endParaRPr lang="en-US" u="sng" dirty="0"/>
          </a:p>
        </p:txBody>
      </p:sp>
      <p:sp>
        <p:nvSpPr>
          <p:cNvPr id="3" name="Subtitle 2"/>
          <p:cNvSpPr>
            <a:spLocks noGrp="1"/>
          </p:cNvSpPr>
          <p:nvPr>
            <p:ph type="subTitle" idx="1"/>
          </p:nvPr>
        </p:nvSpPr>
        <p:spPr>
          <a:xfrm>
            <a:off x="413657" y="1528353"/>
            <a:ext cx="9144000" cy="3749041"/>
          </a:xfrm>
        </p:spPr>
        <p:txBody>
          <a:bodyPr>
            <a:normAutofit fontScale="92500"/>
          </a:bodyPr>
          <a:lstStyle/>
          <a:p>
            <a:pPr algn="l"/>
            <a:r>
              <a:rPr lang="en-US" dirty="0"/>
              <a:t>We began the data exploration of the </a:t>
            </a:r>
            <a:r>
              <a:rPr lang="en-US" dirty="0" err="1"/>
              <a:t>Olist</a:t>
            </a:r>
            <a:r>
              <a:rPr lang="en-US" dirty="0"/>
              <a:t> sales dataset by reviewing the data for quality issues such as incorrect data types and null values. We corrected the incorrect data types and filled null values to ensure the dataset was accurate and reliable for analysis.</a:t>
            </a:r>
          </a:p>
          <a:p>
            <a:pPr algn="l"/>
            <a:r>
              <a:rPr lang="en-US" dirty="0"/>
              <a:t>Next, we analyzed the data using Pandas in a </a:t>
            </a:r>
            <a:r>
              <a:rPr lang="en-US" dirty="0" err="1"/>
              <a:t>Jupyter</a:t>
            </a:r>
            <a:r>
              <a:rPr lang="en-US" dirty="0"/>
              <a:t> Notebook, exploring </a:t>
            </a:r>
            <a:r>
              <a:rPr lang="en-US" dirty="0" smtClean="0"/>
              <a:t>customer, </a:t>
            </a:r>
            <a:r>
              <a:rPr lang="en-US" dirty="0"/>
              <a:t>geography, items, payments, reviews, orders, sellers, product names, and </a:t>
            </a:r>
            <a:r>
              <a:rPr lang="en-US" dirty="0" smtClean="0"/>
              <a:t>products datasets. </a:t>
            </a:r>
            <a:r>
              <a:rPr lang="en-US" dirty="0"/>
              <a:t>Through the exploration, we gained insights into demographics, regional variations</a:t>
            </a:r>
            <a:r>
              <a:rPr lang="en-US" dirty="0" smtClean="0"/>
              <a:t>, </a:t>
            </a:r>
            <a:r>
              <a:rPr lang="en-US" dirty="0"/>
              <a:t>payment and shipping methods</a:t>
            </a:r>
            <a:r>
              <a:rPr lang="en-US" dirty="0" smtClean="0"/>
              <a:t>, </a:t>
            </a:r>
            <a:r>
              <a:rPr lang="en-US" dirty="0"/>
              <a:t>and product </a:t>
            </a:r>
            <a:r>
              <a:rPr lang="en-US" dirty="0" smtClean="0"/>
              <a:t>Categories.</a:t>
            </a:r>
            <a:endParaRPr lang="en-US" dirty="0"/>
          </a:p>
          <a:p>
            <a:pPr algn="l"/>
            <a:r>
              <a:rPr lang="en-US" dirty="0"/>
              <a:t>The findings from the data exploration will be used to inform subsequent analysis and recommendations for optimizing the </a:t>
            </a:r>
            <a:r>
              <a:rPr lang="en-US" dirty="0" err="1"/>
              <a:t>Olist</a:t>
            </a:r>
            <a:r>
              <a:rPr lang="en-US" dirty="0"/>
              <a:t> platform.</a:t>
            </a:r>
          </a:p>
          <a:p>
            <a:pPr algn="l"/>
            <a:endParaRPr lang="en-US" dirty="0"/>
          </a:p>
        </p:txBody>
      </p:sp>
    </p:spTree>
    <p:extLst>
      <p:ext uri="{BB962C8B-B14F-4D97-AF65-F5344CB8AC3E}">
        <p14:creationId xmlns:p14="http://schemas.microsoft.com/office/powerpoint/2010/main" val="2224846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04947" y="573722"/>
            <a:ext cx="10594747" cy="1437957"/>
          </a:xfrm>
        </p:spPr>
        <p:txBody>
          <a:bodyPr>
            <a:normAutofit fontScale="90000"/>
          </a:bodyPr>
          <a:lstStyle/>
          <a:p>
            <a:pPr algn="l"/>
            <a:r>
              <a:rPr lang="en-US" u="sng" dirty="0" smtClean="0"/>
              <a:t>Data Visualization </a:t>
            </a:r>
            <a:r>
              <a:rPr lang="en-US" u="sng" dirty="0" smtClean="0"/>
              <a:t>and </a:t>
            </a:r>
            <a:r>
              <a:rPr lang="en-US" u="sng" dirty="0"/>
              <a:t>I</a:t>
            </a:r>
            <a:r>
              <a:rPr lang="en-US" u="sng" dirty="0" smtClean="0"/>
              <a:t>nterpretation</a:t>
            </a:r>
            <a:endParaRPr lang="en-US" dirty="0"/>
          </a:p>
        </p:txBody>
      </p:sp>
      <p:sp>
        <p:nvSpPr>
          <p:cNvPr id="3" name="Subtitle 2"/>
          <p:cNvSpPr>
            <a:spLocks noGrp="1"/>
          </p:cNvSpPr>
          <p:nvPr>
            <p:ph type="subTitle" idx="1"/>
          </p:nvPr>
        </p:nvSpPr>
        <p:spPr>
          <a:xfrm>
            <a:off x="404948" y="2011679"/>
            <a:ext cx="10750731" cy="4728755"/>
          </a:xfrm>
        </p:spPr>
        <p:txBody>
          <a:bodyPr>
            <a:normAutofit lnSpcReduction="10000"/>
          </a:bodyPr>
          <a:lstStyle/>
          <a:p>
            <a:pPr algn="l"/>
            <a:r>
              <a:rPr lang="en-US" dirty="0"/>
              <a:t>To gain further insights into the </a:t>
            </a:r>
            <a:r>
              <a:rPr lang="en-US" dirty="0" err="1"/>
              <a:t>Olist</a:t>
            </a:r>
            <a:r>
              <a:rPr lang="en-US" dirty="0"/>
              <a:t> e-commerce platform and identify opportunities for growth, we used Power BI analytics tool to visualize the data through various charts, graphs, and tables. Our visualizations allowed us to identify patterns and trends that would have been difficult to identify through data exploration alone.</a:t>
            </a:r>
          </a:p>
          <a:p>
            <a:pPr algn="l"/>
            <a:r>
              <a:rPr lang="en-US" dirty="0"/>
              <a:t>We used visualization to answer the following business questions</a:t>
            </a:r>
            <a:r>
              <a:rPr lang="en-US" dirty="0" smtClean="0"/>
              <a:t>:</a:t>
            </a:r>
          </a:p>
          <a:p>
            <a:pPr algn="l"/>
            <a:r>
              <a:rPr lang="en-US" dirty="0" smtClean="0"/>
              <a:t>1: What is the total revenue generated by </a:t>
            </a:r>
            <a:r>
              <a:rPr lang="en-US" dirty="0" err="1" smtClean="0"/>
              <a:t>Olist</a:t>
            </a:r>
            <a:r>
              <a:rPr lang="en-US" dirty="0" smtClean="0"/>
              <a:t>, and how has it changed over time? </a:t>
            </a:r>
          </a:p>
          <a:p>
            <a:pPr algn="l"/>
            <a:r>
              <a:rPr lang="en-US" dirty="0" smtClean="0"/>
              <a:t>2: How many orders were placed on </a:t>
            </a:r>
            <a:r>
              <a:rPr lang="en-US" dirty="0" err="1" smtClean="0"/>
              <a:t>Olist</a:t>
            </a:r>
            <a:r>
              <a:rPr lang="en-US" dirty="0" smtClean="0"/>
              <a:t>, and how does this vary by month or season? </a:t>
            </a:r>
          </a:p>
          <a:p>
            <a:pPr algn="l"/>
            <a:r>
              <a:rPr lang="en-US" dirty="0" smtClean="0"/>
              <a:t>3: What are the most popular product categories on </a:t>
            </a:r>
            <a:r>
              <a:rPr lang="en-US" dirty="0" err="1" smtClean="0"/>
              <a:t>Olist</a:t>
            </a:r>
            <a:r>
              <a:rPr lang="en-US" dirty="0" smtClean="0"/>
              <a:t>, and how do their sales volumes compare to each other? </a:t>
            </a:r>
          </a:p>
          <a:p>
            <a:pPr algn="l"/>
            <a:r>
              <a:rPr lang="en-US" dirty="0" smtClean="0"/>
              <a:t>4: What is the average order value (AOV) on </a:t>
            </a:r>
            <a:r>
              <a:rPr lang="en-US" dirty="0" err="1" smtClean="0"/>
              <a:t>Olist</a:t>
            </a:r>
            <a:r>
              <a:rPr lang="en-US" dirty="0" smtClean="0"/>
              <a:t>, and how does this vary by product category or payment method? </a:t>
            </a:r>
          </a:p>
          <a:p>
            <a:pPr algn="l"/>
            <a:r>
              <a:rPr lang="en-US" dirty="0" smtClean="0"/>
              <a:t>5: How many sellers are active on </a:t>
            </a:r>
            <a:r>
              <a:rPr lang="en-US" dirty="0" err="1" smtClean="0"/>
              <a:t>Olist</a:t>
            </a:r>
            <a:r>
              <a:rPr lang="en-US" dirty="0" smtClean="0"/>
              <a:t>, and how does this number change over time?</a:t>
            </a:r>
            <a:endParaRPr lang="en-US" dirty="0"/>
          </a:p>
          <a:p>
            <a:pPr algn="l"/>
            <a:endParaRPr lang="en-US" dirty="0"/>
          </a:p>
        </p:txBody>
      </p:sp>
    </p:spTree>
    <p:extLst>
      <p:ext uri="{BB962C8B-B14F-4D97-AF65-F5344CB8AC3E}">
        <p14:creationId xmlns:p14="http://schemas.microsoft.com/office/powerpoint/2010/main" val="2075216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112059" y="0"/>
            <a:ext cx="9144000" cy="1528354"/>
          </a:xfrm>
        </p:spPr>
        <p:txBody>
          <a:bodyPr>
            <a:normAutofit fontScale="90000"/>
          </a:bodyPr>
          <a:lstStyle/>
          <a:p>
            <a:pPr algn="l"/>
            <a:r>
              <a:rPr lang="en-US" u="sng" dirty="0" smtClean="0"/>
              <a:t>Data </a:t>
            </a:r>
            <a:r>
              <a:rPr lang="en-US" u="sng" dirty="0" smtClean="0"/>
              <a:t>Visualization and Interpretation</a:t>
            </a:r>
            <a:endParaRPr lang="en-US" u="sng" dirty="0"/>
          </a:p>
        </p:txBody>
      </p:sp>
      <p:sp>
        <p:nvSpPr>
          <p:cNvPr id="8" name="Subtitle 7"/>
          <p:cNvSpPr>
            <a:spLocks noGrp="1"/>
          </p:cNvSpPr>
          <p:nvPr>
            <p:ph type="subTitle" idx="1"/>
          </p:nvPr>
        </p:nvSpPr>
        <p:spPr>
          <a:xfrm>
            <a:off x="112059" y="1528354"/>
            <a:ext cx="12192000" cy="5434149"/>
          </a:xfrm>
        </p:spPr>
        <p:txBody>
          <a:bodyPr>
            <a:normAutofit fontScale="92500" lnSpcReduction="20000"/>
          </a:bodyPr>
          <a:lstStyle/>
          <a:p>
            <a:pPr algn="l"/>
            <a:r>
              <a:rPr lang="en-US" dirty="0" smtClean="0"/>
              <a:t>6: What is the distribution of seller ratings on </a:t>
            </a:r>
            <a:r>
              <a:rPr lang="en-US" dirty="0" err="1" smtClean="0"/>
              <a:t>Olist</a:t>
            </a:r>
            <a:r>
              <a:rPr lang="en-US" dirty="0" smtClean="0"/>
              <a:t>, and how does this impact sales performance?</a:t>
            </a:r>
          </a:p>
          <a:p>
            <a:pPr algn="l"/>
            <a:r>
              <a:rPr lang="en-US" dirty="0" smtClean="0"/>
              <a:t>7: How many customers have made repeat purchases on </a:t>
            </a:r>
            <a:r>
              <a:rPr lang="en-US" dirty="0" err="1" smtClean="0"/>
              <a:t>Olist</a:t>
            </a:r>
            <a:r>
              <a:rPr lang="en-US" dirty="0" smtClean="0"/>
              <a:t>, and what percentage of total sales do they account for? </a:t>
            </a:r>
          </a:p>
          <a:p>
            <a:pPr algn="l"/>
            <a:r>
              <a:rPr lang="en-US" dirty="0" smtClean="0"/>
              <a:t>8: What is the average customer rating for products sold on </a:t>
            </a:r>
            <a:r>
              <a:rPr lang="en-US" dirty="0" err="1" smtClean="0"/>
              <a:t>Olist</a:t>
            </a:r>
            <a:r>
              <a:rPr lang="en-US" dirty="0" smtClean="0"/>
              <a:t>, and how does this impact sales performance? </a:t>
            </a:r>
          </a:p>
          <a:p>
            <a:pPr algn="l"/>
            <a:r>
              <a:rPr lang="en-US" dirty="0" smtClean="0"/>
              <a:t>9: What is the average order cancellation rate on </a:t>
            </a:r>
            <a:r>
              <a:rPr lang="en-US" dirty="0" err="1" smtClean="0"/>
              <a:t>Olist</a:t>
            </a:r>
            <a:r>
              <a:rPr lang="en-US" dirty="0" smtClean="0"/>
              <a:t>, and how does this impact seller performance?</a:t>
            </a:r>
          </a:p>
          <a:p>
            <a:pPr algn="l"/>
            <a:r>
              <a:rPr lang="en-US" dirty="0" smtClean="0"/>
              <a:t>10: What are the top-selling products on </a:t>
            </a:r>
            <a:r>
              <a:rPr lang="en-US" dirty="0" err="1" smtClean="0"/>
              <a:t>Olist</a:t>
            </a:r>
            <a:r>
              <a:rPr lang="en-US" dirty="0" smtClean="0"/>
              <a:t>, and how have their sales trends changed over time?</a:t>
            </a:r>
          </a:p>
          <a:p>
            <a:pPr algn="l"/>
            <a:r>
              <a:rPr lang="en-US" dirty="0" smtClean="0"/>
              <a:t>11: Which payment methods are most commonly used by </a:t>
            </a:r>
            <a:r>
              <a:rPr lang="en-US" dirty="0" err="1" smtClean="0"/>
              <a:t>Olist</a:t>
            </a:r>
            <a:r>
              <a:rPr lang="en-US" dirty="0" smtClean="0"/>
              <a:t> customers, and how does this vary by product category or geographic region? </a:t>
            </a:r>
          </a:p>
          <a:p>
            <a:pPr algn="l"/>
            <a:r>
              <a:rPr lang="en-US" dirty="0" smtClean="0"/>
              <a:t>12: How do customer reviews and ratings affect sales and product performance on </a:t>
            </a:r>
            <a:r>
              <a:rPr lang="en-US" dirty="0" err="1" smtClean="0"/>
              <a:t>Olist</a:t>
            </a:r>
            <a:r>
              <a:rPr lang="en-US" dirty="0" smtClean="0"/>
              <a:t>? </a:t>
            </a:r>
          </a:p>
          <a:p>
            <a:pPr algn="l"/>
            <a:r>
              <a:rPr lang="en-US" dirty="0" smtClean="0"/>
              <a:t>13: Which product categories have the highest profit margins on </a:t>
            </a:r>
            <a:r>
              <a:rPr lang="en-US" dirty="0" err="1" smtClean="0"/>
              <a:t>Olist</a:t>
            </a:r>
            <a:r>
              <a:rPr lang="en-US" dirty="0" smtClean="0"/>
              <a:t>, and how can the company increase profitability across different categories? </a:t>
            </a:r>
          </a:p>
          <a:p>
            <a:pPr algn="l"/>
            <a:r>
              <a:rPr lang="en-US" dirty="0" smtClean="0"/>
              <a:t>14: How does </a:t>
            </a:r>
            <a:r>
              <a:rPr lang="en-US" dirty="0" err="1" smtClean="0"/>
              <a:t>Olist's</a:t>
            </a:r>
            <a:r>
              <a:rPr lang="en-US" dirty="0" smtClean="0"/>
              <a:t> marketing spend and channel mix impact sales and customer acquisition costs, and how can the company optimize its marketing strategy to increase ROI? </a:t>
            </a:r>
          </a:p>
          <a:p>
            <a:pPr algn="l"/>
            <a:r>
              <a:rPr lang="en-US" dirty="0" smtClean="0"/>
              <a:t>15: Geolocation having high customer density. Calculate customer retention rate according to geolocations</a:t>
            </a:r>
            <a:endParaRPr lang="en-US" dirty="0"/>
          </a:p>
        </p:txBody>
      </p:sp>
    </p:spTree>
    <p:extLst>
      <p:ext uri="{BB962C8B-B14F-4D97-AF65-F5344CB8AC3E}">
        <p14:creationId xmlns:p14="http://schemas.microsoft.com/office/powerpoint/2010/main" val="2213724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5034" y="457200"/>
            <a:ext cx="3932237" cy="766482"/>
          </a:xfrm>
        </p:spPr>
        <p:txBody>
          <a:bodyPr/>
          <a:lstStyle/>
          <a:p>
            <a:pPr algn="ctr"/>
            <a:r>
              <a:rPr lang="en-US" u="sng" dirty="0" smtClean="0"/>
              <a:t>INSIGHTS</a:t>
            </a:r>
            <a:endParaRPr lang="en-US" u="sng"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223682"/>
            <a:ext cx="7008812" cy="4303059"/>
          </a:xfrm>
        </p:spPr>
      </p:pic>
      <p:sp>
        <p:nvSpPr>
          <p:cNvPr id="4" name="Text Placeholder 3"/>
          <p:cNvSpPr>
            <a:spLocks noGrp="1"/>
          </p:cNvSpPr>
          <p:nvPr>
            <p:ph type="body" sz="half" idx="2"/>
          </p:nvPr>
        </p:nvSpPr>
        <p:spPr>
          <a:xfrm>
            <a:off x="0" y="1250575"/>
            <a:ext cx="5002306" cy="4276165"/>
          </a:xfrm>
        </p:spPr>
        <p:txBody>
          <a:bodyPr/>
          <a:lstStyle/>
          <a:p>
            <a:pPr algn="ctr"/>
            <a:r>
              <a:rPr lang="en-US" dirty="0"/>
              <a:t>Upon analyzing the </a:t>
            </a:r>
            <a:r>
              <a:rPr lang="en-US" dirty="0" err="1"/>
              <a:t>Olist</a:t>
            </a:r>
            <a:r>
              <a:rPr lang="en-US" dirty="0"/>
              <a:t> e-commerce dataset from 2016 to 2018 using the Power BI analytics tool, the following insights were gained:</a:t>
            </a:r>
          </a:p>
          <a:p>
            <a:pPr marL="285750" indent="-285750">
              <a:buFont typeface="Arial" panose="020B0604020202020204" pitchFamily="34" charset="0"/>
              <a:buChar char="•"/>
            </a:pPr>
            <a:r>
              <a:rPr lang="en-US" dirty="0" err="1"/>
              <a:t>Olist</a:t>
            </a:r>
            <a:r>
              <a:rPr lang="en-US" dirty="0"/>
              <a:t> generated a total revenue of approximately 15.42 million Reals, with revenue growing steadily from January until it peaked in August, before facing a decline in September, and picking up again in December.</a:t>
            </a:r>
          </a:p>
          <a:p>
            <a:pPr marL="285750" indent="-285750">
              <a:buFont typeface="Arial" panose="020B0604020202020204" pitchFamily="34" charset="0"/>
              <a:buChar char="•"/>
            </a:pPr>
            <a:r>
              <a:rPr lang="en-US" dirty="0"/>
              <a:t>A total of </a:t>
            </a:r>
            <a:r>
              <a:rPr lang="en-US" dirty="0" smtClean="0"/>
              <a:t>99.44 thousand </a:t>
            </a:r>
            <a:r>
              <a:rPr lang="en-US" dirty="0"/>
              <a:t>orders were placed on </a:t>
            </a:r>
            <a:r>
              <a:rPr lang="en-US" dirty="0" err="1"/>
              <a:t>Olist</a:t>
            </a:r>
            <a:r>
              <a:rPr lang="en-US" dirty="0"/>
              <a:t>, with orders growing steadily from January, peaking in August, declining rapidly in September, and picking up again in December.</a:t>
            </a:r>
          </a:p>
          <a:p>
            <a:pPr marL="285750" indent="-285750">
              <a:buFont typeface="Arial" panose="020B0604020202020204" pitchFamily="34" charset="0"/>
              <a:buChar char="•"/>
            </a:pPr>
            <a:r>
              <a:rPr lang="en-US" dirty="0" smtClean="0"/>
              <a:t>The </a:t>
            </a:r>
            <a:r>
              <a:rPr lang="en-US" dirty="0" err="1" smtClean="0"/>
              <a:t>Bed_bath_table</a:t>
            </a:r>
            <a:r>
              <a:rPr lang="en-US" dirty="0"/>
              <a:t>, </a:t>
            </a:r>
            <a:r>
              <a:rPr lang="en-US" dirty="0" err="1"/>
              <a:t>sports_leisure</a:t>
            </a:r>
            <a:r>
              <a:rPr lang="en-US" dirty="0"/>
              <a:t>, and </a:t>
            </a:r>
            <a:r>
              <a:rPr lang="en-US" dirty="0" err="1"/>
              <a:t>furniture_decor</a:t>
            </a:r>
            <a:r>
              <a:rPr lang="en-US" dirty="0"/>
              <a:t> were the most popular product categories on </a:t>
            </a:r>
            <a:r>
              <a:rPr lang="en-US" dirty="0" err="1"/>
              <a:t>Olist</a:t>
            </a:r>
            <a:r>
              <a:rPr lang="en-US" dirty="0"/>
              <a:t>, with </a:t>
            </a:r>
            <a:r>
              <a:rPr lang="en-US" dirty="0" err="1"/>
              <a:t>bed_bath_table</a:t>
            </a:r>
            <a:r>
              <a:rPr lang="en-US" dirty="0"/>
              <a:t> having the most orders.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645991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9447" y="-282387"/>
            <a:ext cx="3932237" cy="1600200"/>
          </a:xfrm>
        </p:spPr>
        <p:txBody>
          <a:bodyPr/>
          <a:lstStyle/>
          <a:p>
            <a:pPr algn="ctr"/>
            <a:r>
              <a:rPr lang="en-US" u="sng" dirty="0" smtClean="0"/>
              <a:t>INSIGHTS</a:t>
            </a:r>
            <a:r>
              <a:rPr lang="en-US" dirty="0" smtClean="0"/>
              <a:t>:</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317813"/>
            <a:ext cx="6677118" cy="3859305"/>
          </a:xfrm>
        </p:spPr>
      </p:pic>
      <p:sp>
        <p:nvSpPr>
          <p:cNvPr id="4" name="Text Placeholder 3"/>
          <p:cNvSpPr>
            <a:spLocks noGrp="1"/>
          </p:cNvSpPr>
          <p:nvPr>
            <p:ph type="body" sz="half" idx="2"/>
          </p:nvPr>
        </p:nvSpPr>
        <p:spPr>
          <a:xfrm>
            <a:off x="100200" y="1365530"/>
            <a:ext cx="5082988" cy="3811588"/>
          </a:xfrm>
        </p:spPr>
        <p:txBody>
          <a:bodyPr/>
          <a:lstStyle/>
          <a:p>
            <a:endParaRPr lang="en-US" dirty="0" smtClean="0"/>
          </a:p>
          <a:p>
            <a:pPr marL="285750" indent="-285750">
              <a:buFont typeface="Arial" panose="020B0604020202020204" pitchFamily="34" charset="0"/>
              <a:buChar char="•"/>
            </a:pPr>
            <a:r>
              <a:rPr lang="en-US" dirty="0" smtClean="0"/>
              <a:t>The </a:t>
            </a:r>
            <a:r>
              <a:rPr lang="en-US" dirty="0"/>
              <a:t>average order value was 159.83 Reals, with </a:t>
            </a:r>
            <a:r>
              <a:rPr lang="en-US" dirty="0" err="1"/>
              <a:t>health_beauty</a:t>
            </a:r>
            <a:r>
              <a:rPr lang="en-US" dirty="0"/>
              <a:t>, </a:t>
            </a:r>
            <a:r>
              <a:rPr lang="en-US" dirty="0" err="1"/>
              <a:t>watches_gifts</a:t>
            </a:r>
            <a:r>
              <a:rPr lang="en-US" dirty="0"/>
              <a:t>, and </a:t>
            </a:r>
            <a:r>
              <a:rPr lang="en-US" dirty="0" err="1"/>
              <a:t>bed_bath_table</a:t>
            </a:r>
            <a:r>
              <a:rPr lang="en-US" dirty="0"/>
              <a:t> being the top 3 product categories with the highest average order value.</a:t>
            </a:r>
          </a:p>
          <a:p>
            <a:pPr marL="285750" indent="-285750" algn="just">
              <a:buFont typeface="Arial" panose="020B0604020202020204" pitchFamily="34" charset="0"/>
              <a:buChar char="•"/>
            </a:pPr>
            <a:r>
              <a:rPr lang="en-US" dirty="0" err="1"/>
              <a:t>Olist</a:t>
            </a:r>
            <a:r>
              <a:rPr lang="en-US" dirty="0"/>
              <a:t> had 3095 active sellers from 2016 to 2018, with the number of active sellers growing significantly from </a:t>
            </a:r>
            <a:r>
              <a:rPr lang="en-US" dirty="0" smtClean="0"/>
              <a:t>January </a:t>
            </a:r>
            <a:r>
              <a:rPr lang="en-US" dirty="0"/>
              <a:t>until August</a:t>
            </a:r>
            <a:r>
              <a:rPr lang="en-US" dirty="0" smtClean="0"/>
              <a:t>.</a:t>
            </a:r>
          </a:p>
          <a:p>
            <a:pPr algn="just"/>
            <a:r>
              <a:rPr lang="en-US" dirty="0" smtClean="0"/>
              <a:t>Note: The average order value was gotten from a division of the total order value and the total orders. The total order value is the sum of price and </a:t>
            </a:r>
            <a:r>
              <a:rPr lang="en-US" dirty="0" err="1" smtClean="0"/>
              <a:t>feight</a:t>
            </a:r>
            <a:r>
              <a:rPr lang="en-US" dirty="0" smtClean="0"/>
              <a:t> value of all products.</a:t>
            </a:r>
            <a:endParaRPr lang="en-US" dirty="0"/>
          </a:p>
        </p:txBody>
      </p:sp>
    </p:spTree>
    <p:extLst>
      <p:ext uri="{BB962C8B-B14F-4D97-AF65-F5344CB8AC3E}">
        <p14:creationId xmlns:p14="http://schemas.microsoft.com/office/powerpoint/2010/main" val="1175461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0129" y="-40341"/>
            <a:ext cx="3932237" cy="1600200"/>
          </a:xfrm>
        </p:spPr>
        <p:txBody>
          <a:bodyPr/>
          <a:lstStyle/>
          <a:p>
            <a:pPr algn="ctr"/>
            <a:r>
              <a:rPr lang="en-US" u="sng" dirty="0" smtClean="0"/>
              <a:t>INSIGHTS</a:t>
            </a:r>
            <a:r>
              <a:rPr lang="en-US" dirty="0" smtClean="0"/>
              <a:t>:</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0522"/>
            <a:ext cx="6172200" cy="3487431"/>
          </a:xfrm>
        </p:spPr>
      </p:pic>
      <p:sp>
        <p:nvSpPr>
          <p:cNvPr id="4" name="Text Placeholder 3"/>
          <p:cNvSpPr>
            <a:spLocks noGrp="1"/>
          </p:cNvSpPr>
          <p:nvPr>
            <p:ph type="body" sz="half" idx="2"/>
          </p:nvPr>
        </p:nvSpPr>
        <p:spPr>
          <a:xfrm>
            <a:off x="0" y="1680522"/>
            <a:ext cx="5183188" cy="3487431"/>
          </a:xfrm>
        </p:spPr>
        <p:txBody>
          <a:bodyPr>
            <a:normAutofit/>
          </a:bodyPr>
          <a:lstStyle/>
          <a:p>
            <a:endParaRPr lang="en-US" dirty="0"/>
          </a:p>
          <a:p>
            <a:pPr marL="285750" indent="-285750">
              <a:buFont typeface="Arial" panose="020B0604020202020204" pitchFamily="34" charset="0"/>
              <a:buChar char="•"/>
            </a:pPr>
            <a:r>
              <a:rPr lang="en-US" dirty="0" smtClean="0"/>
              <a:t>Sellers </a:t>
            </a:r>
            <a:r>
              <a:rPr lang="en-US" dirty="0"/>
              <a:t>with ratings of 4 and mainly 5 had the most sales, as seen in the distribution of seller </a:t>
            </a:r>
            <a:r>
              <a:rPr lang="en-US" dirty="0" smtClean="0"/>
              <a:t>ratings by months.</a:t>
            </a:r>
            <a:endParaRPr lang="en-US" dirty="0"/>
          </a:p>
          <a:p>
            <a:pPr marL="285750" indent="-285750">
              <a:buFont typeface="Arial" panose="020B0604020202020204" pitchFamily="34" charset="0"/>
              <a:buChar char="•"/>
            </a:pPr>
            <a:r>
              <a:rPr lang="en-US" dirty="0"/>
              <a:t>No repeat purchases were made by customers on </a:t>
            </a:r>
            <a:r>
              <a:rPr lang="en-US" dirty="0" err="1"/>
              <a:t>Olist</a:t>
            </a:r>
            <a:r>
              <a:rPr lang="en-US" dirty="0"/>
              <a:t>, according to the available dataset.</a:t>
            </a:r>
          </a:p>
          <a:p>
            <a:pPr marL="285750" indent="-285750">
              <a:buFont typeface="Arial" panose="020B0604020202020204" pitchFamily="34" charset="0"/>
              <a:buChar char="•"/>
            </a:pPr>
            <a:r>
              <a:rPr lang="en-US" dirty="0"/>
              <a:t>The average customer rating on </a:t>
            </a:r>
            <a:r>
              <a:rPr lang="en-US" dirty="0" err="1"/>
              <a:t>Olist</a:t>
            </a:r>
            <a:r>
              <a:rPr lang="en-US" dirty="0"/>
              <a:t> was 4, and it did not significantly impact the amount of products sold.</a:t>
            </a:r>
          </a:p>
          <a:p>
            <a:pPr marL="285750" indent="-285750">
              <a:buFont typeface="Arial" panose="020B0604020202020204" pitchFamily="34" charset="0"/>
              <a:buChar char="•"/>
            </a:pPr>
            <a:r>
              <a:rPr lang="en-US" dirty="0"/>
              <a:t>The average cancelled order on </a:t>
            </a:r>
            <a:r>
              <a:rPr lang="en-US" dirty="0" err="1"/>
              <a:t>Olist</a:t>
            </a:r>
            <a:r>
              <a:rPr lang="en-US" dirty="0"/>
              <a:t> was at least 1 per month, which did not have a significant impact on sellers' performance.</a:t>
            </a:r>
          </a:p>
          <a:p>
            <a:endParaRPr lang="en-US" dirty="0"/>
          </a:p>
        </p:txBody>
      </p:sp>
    </p:spTree>
    <p:extLst>
      <p:ext uri="{BB962C8B-B14F-4D97-AF65-F5344CB8AC3E}">
        <p14:creationId xmlns:p14="http://schemas.microsoft.com/office/powerpoint/2010/main" val="54872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5999" y="49701"/>
            <a:ext cx="3932237" cy="1600200"/>
          </a:xfrm>
        </p:spPr>
        <p:txBody>
          <a:bodyPr/>
          <a:lstStyle/>
          <a:p>
            <a:pPr algn="ctr"/>
            <a:r>
              <a:rPr lang="en-US" u="sng" dirty="0" smtClean="0"/>
              <a:t>INSIGHTS</a:t>
            </a:r>
            <a:r>
              <a:rPr lang="en-US" dirty="0" smtClean="0"/>
              <a:t>:</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09329" y="1657910"/>
            <a:ext cx="6172200" cy="3467991"/>
          </a:xfrm>
        </p:spPr>
      </p:pic>
      <p:sp>
        <p:nvSpPr>
          <p:cNvPr id="4" name="Text Placeholder 3"/>
          <p:cNvSpPr>
            <a:spLocks noGrp="1"/>
          </p:cNvSpPr>
          <p:nvPr>
            <p:ph type="body" sz="half" idx="2"/>
          </p:nvPr>
        </p:nvSpPr>
        <p:spPr>
          <a:xfrm>
            <a:off x="-1" y="1690242"/>
            <a:ext cx="5909329" cy="3970970"/>
          </a:xfrm>
        </p:spPr>
        <p:txBody>
          <a:bodyPr>
            <a:normAutofit/>
          </a:bodyPr>
          <a:lstStyle/>
          <a:p>
            <a:pPr marL="285750" indent="-285750">
              <a:buFont typeface="Arial" panose="020B0604020202020204" pitchFamily="34" charset="0"/>
              <a:buChar char="•"/>
            </a:pPr>
            <a:r>
              <a:rPr lang="en-US" dirty="0"/>
              <a:t>Credit cards and </a:t>
            </a:r>
            <a:r>
              <a:rPr lang="en-US" dirty="0" err="1"/>
              <a:t>boleto</a:t>
            </a:r>
            <a:r>
              <a:rPr lang="en-US" dirty="0"/>
              <a:t> were the most preferred payment methods on </a:t>
            </a:r>
            <a:r>
              <a:rPr lang="en-US" dirty="0" err="1"/>
              <a:t>Olist</a:t>
            </a:r>
            <a:r>
              <a:rPr lang="en-US" dirty="0"/>
              <a:t>, which was consistent across payment categories and geolocation.</a:t>
            </a:r>
          </a:p>
          <a:p>
            <a:pPr marL="285750" indent="-285750">
              <a:buFont typeface="Arial" panose="020B0604020202020204" pitchFamily="34" charset="0"/>
              <a:buChar char="•"/>
            </a:pPr>
            <a:r>
              <a:rPr lang="en-US" dirty="0"/>
              <a:t>Customer reviews and ratings did not significantly impact product sales on </a:t>
            </a:r>
            <a:r>
              <a:rPr lang="en-US" dirty="0" err="1"/>
              <a:t>Olist</a:t>
            </a:r>
            <a:r>
              <a:rPr lang="en-US" dirty="0"/>
              <a:t>.</a:t>
            </a:r>
          </a:p>
          <a:p>
            <a:pPr marL="285750" indent="-285750">
              <a:buFont typeface="Arial" panose="020B0604020202020204" pitchFamily="34" charset="0"/>
              <a:buChar char="•"/>
            </a:pPr>
            <a:r>
              <a:rPr lang="en-US" dirty="0"/>
              <a:t>The products with the highest profit margins were </a:t>
            </a:r>
            <a:r>
              <a:rPr lang="en-US" dirty="0" err="1"/>
              <a:t>security_and_services</a:t>
            </a:r>
            <a:r>
              <a:rPr lang="en-US" dirty="0"/>
              <a:t> and </a:t>
            </a:r>
            <a:r>
              <a:rPr lang="en-US" dirty="0" err="1"/>
              <a:t>fashion_children_clothes</a:t>
            </a:r>
            <a:r>
              <a:rPr lang="en-US" dirty="0"/>
              <a:t>, and the company can increase its profitability across different categories by implementing discounts to products that are not selling well or reducing the quantity purchased for less profitable products.</a:t>
            </a:r>
          </a:p>
          <a:p>
            <a:pPr marL="285750" indent="-285750">
              <a:buFont typeface="Arial" panose="020B0604020202020204" pitchFamily="34" charset="0"/>
              <a:buChar char="•"/>
            </a:pPr>
            <a:r>
              <a:rPr lang="en-US" dirty="0"/>
              <a:t>No information was available in the dataset regarding </a:t>
            </a:r>
            <a:r>
              <a:rPr lang="en-US" dirty="0" err="1"/>
              <a:t>Olist's</a:t>
            </a:r>
            <a:r>
              <a:rPr lang="en-US" dirty="0"/>
              <a:t> marketing spend and channel mix.</a:t>
            </a:r>
          </a:p>
          <a:p>
            <a:pPr marL="285750" indent="-285750">
              <a:buFont typeface="Arial" panose="020B0604020202020204" pitchFamily="34" charset="0"/>
              <a:buChar char="•"/>
            </a:pPr>
            <a:r>
              <a:rPr lang="en-US" dirty="0"/>
              <a:t>Sao Paulo had the most customers among the geolocations, and customer retention and growth across geolocations were promising.</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076865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Recommendations</a:t>
            </a:r>
            <a:endParaRPr lang="en-US" u="sng" dirty="0"/>
          </a:p>
        </p:txBody>
      </p:sp>
      <p:sp>
        <p:nvSpPr>
          <p:cNvPr id="3" name="Content Placeholder 2"/>
          <p:cNvSpPr>
            <a:spLocks noGrp="1"/>
          </p:cNvSpPr>
          <p:nvPr>
            <p:ph idx="1"/>
          </p:nvPr>
        </p:nvSpPr>
        <p:spPr/>
        <p:txBody>
          <a:bodyPr>
            <a:normAutofit/>
          </a:bodyPr>
          <a:lstStyle/>
          <a:p>
            <a:pPr marL="0" indent="0">
              <a:buNone/>
            </a:pPr>
            <a:r>
              <a:rPr lang="en-US" sz="2000" u="sng" dirty="0" smtClean="0"/>
              <a:t>Increase </a:t>
            </a:r>
            <a:r>
              <a:rPr lang="en-US" sz="2000" u="sng" dirty="0"/>
              <a:t>marketing spend on product categories with low sales </a:t>
            </a:r>
            <a:r>
              <a:rPr lang="en-US" sz="2000" u="sng" dirty="0" smtClean="0"/>
              <a:t>volumes:</a:t>
            </a:r>
          </a:p>
          <a:p>
            <a:pPr marL="0" indent="0">
              <a:buNone/>
            </a:pPr>
            <a:r>
              <a:rPr lang="en-US" sz="2000" dirty="0" err="1" smtClean="0"/>
              <a:t>Olist</a:t>
            </a:r>
            <a:r>
              <a:rPr lang="en-US" sz="2000" dirty="0" smtClean="0"/>
              <a:t> can allocate more marketing resources towards the product categories that have low sales       volumes, in order to increase their visibility and sales.</a:t>
            </a:r>
          </a:p>
          <a:p>
            <a:pPr marL="0" indent="0">
              <a:buNone/>
            </a:pPr>
            <a:r>
              <a:rPr lang="en-US" sz="2000" u="sng" dirty="0" smtClean="0"/>
              <a:t>Expand </a:t>
            </a:r>
            <a:r>
              <a:rPr lang="en-US" sz="2000" u="sng" dirty="0"/>
              <a:t>geographically: </a:t>
            </a:r>
            <a:endParaRPr lang="en-US" sz="2000" u="sng" dirty="0" smtClean="0"/>
          </a:p>
          <a:p>
            <a:pPr marL="0" indent="0">
              <a:buNone/>
            </a:pPr>
            <a:r>
              <a:rPr lang="en-US" sz="2000" dirty="0" err="1" smtClean="0"/>
              <a:t>Olist</a:t>
            </a:r>
            <a:r>
              <a:rPr lang="en-US" sz="2000" dirty="0" smtClean="0"/>
              <a:t> </a:t>
            </a:r>
            <a:r>
              <a:rPr lang="en-US" sz="2000" dirty="0"/>
              <a:t>can expand to new geographic regions to increase their customer base and revenue.</a:t>
            </a:r>
          </a:p>
          <a:p>
            <a:pPr marL="0" indent="0">
              <a:buNone/>
            </a:pPr>
            <a:r>
              <a:rPr lang="en-US" sz="2000" u="sng" dirty="0"/>
              <a:t>Encourage repeat purchases</a:t>
            </a:r>
            <a:r>
              <a:rPr lang="en-US" sz="2000" u="sng" dirty="0" smtClean="0"/>
              <a:t>:</a:t>
            </a:r>
          </a:p>
          <a:p>
            <a:pPr marL="0" indent="0">
              <a:buNone/>
            </a:pPr>
            <a:r>
              <a:rPr lang="en-US" sz="2000" dirty="0" err="1" smtClean="0"/>
              <a:t>Olist</a:t>
            </a:r>
            <a:r>
              <a:rPr lang="en-US" sz="2000" dirty="0" smtClean="0"/>
              <a:t> </a:t>
            </a:r>
            <a:r>
              <a:rPr lang="en-US" sz="2000" dirty="0"/>
              <a:t>can implement strategies to encourage repeat purchases by offering loyalty programs or discounts to customers who make multiple purchases.</a:t>
            </a:r>
          </a:p>
          <a:p>
            <a:pPr marL="0" indent="0">
              <a:buNone/>
            </a:pPr>
            <a:r>
              <a:rPr lang="en-US" sz="2000" u="sng" dirty="0"/>
              <a:t>Improve seller performance: </a:t>
            </a:r>
            <a:endParaRPr lang="en-US" sz="2000" u="sng" dirty="0" smtClean="0"/>
          </a:p>
          <a:p>
            <a:pPr marL="0" indent="0">
              <a:buNone/>
            </a:pPr>
            <a:r>
              <a:rPr lang="en-US" sz="2000" dirty="0" err="1" smtClean="0"/>
              <a:t>Olist</a:t>
            </a:r>
            <a:r>
              <a:rPr lang="en-US" sz="2000" dirty="0" smtClean="0"/>
              <a:t> </a:t>
            </a:r>
            <a:r>
              <a:rPr lang="en-US" sz="2000" dirty="0"/>
              <a:t>can work with sellers to improve their performance by providing training on how to effectively market and sell their products, and by providing better customer service</a:t>
            </a:r>
            <a:r>
              <a:rPr lang="en-US" sz="2000" dirty="0" smtClean="0"/>
              <a:t>.</a:t>
            </a:r>
          </a:p>
          <a:p>
            <a:endParaRPr lang="en-US" sz="1900" dirty="0" smtClean="0"/>
          </a:p>
          <a:p>
            <a:endParaRPr lang="en-US" dirty="0"/>
          </a:p>
          <a:p>
            <a:endParaRPr lang="en-US" dirty="0"/>
          </a:p>
        </p:txBody>
      </p:sp>
    </p:spTree>
    <p:extLst>
      <p:ext uri="{BB962C8B-B14F-4D97-AF65-F5344CB8AC3E}">
        <p14:creationId xmlns:p14="http://schemas.microsoft.com/office/powerpoint/2010/main" val="5728158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TotalTime>
  <Words>1325</Words>
  <Application>Microsoft Office PowerPoint</Application>
  <PresentationFormat>Widescreen</PresentationFormat>
  <Paragraphs>71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Olist E-Commerce Sales Report</vt:lpstr>
      <vt:lpstr>AGENDA:</vt:lpstr>
      <vt:lpstr>Introduction:</vt:lpstr>
      <vt:lpstr>Background:</vt:lpstr>
      <vt:lpstr>Data Exploration</vt:lpstr>
      <vt:lpstr>Data Visualization and Interpretation</vt:lpstr>
      <vt:lpstr>Data Visualization and Interpretation</vt:lpstr>
      <vt:lpstr>INSIGHTS</vt:lpstr>
      <vt:lpstr>INSIGHTS:</vt:lpstr>
      <vt:lpstr>INSIGHTS:</vt:lpstr>
      <vt:lpstr>INSIGHTS:</vt:lpstr>
      <vt:lpstr>Recommendations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Olist Sales Report</dc:title>
  <dc:creator>MORAKINYO AKIN-ADAMU</dc:creator>
  <cp:lastModifiedBy>MORAKINYO AKIN-ADAMU</cp:lastModifiedBy>
  <cp:revision>20</cp:revision>
  <dcterms:created xsi:type="dcterms:W3CDTF">2023-04-26T18:01:52Z</dcterms:created>
  <dcterms:modified xsi:type="dcterms:W3CDTF">2023-04-27T19:47:36Z</dcterms:modified>
</cp:coreProperties>
</file>